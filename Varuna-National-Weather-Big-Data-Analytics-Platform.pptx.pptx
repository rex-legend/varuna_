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Consolas Bold" charset="1" panose="020B0709020204030204"/>
      <p:regular r:id="rId27"/>
    </p:embeddedFont>
    <p:embeddedFont>
      <p:font typeface="Inter Italics" charset="1" panose="0200050300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0.jpeg" Type="http://schemas.openxmlformats.org/officeDocument/2006/relationships/image"/><Relationship Id="rId4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4513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4008863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Varuna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273440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National Weather Big Data Analytics Platform — Real-time meteorological intelligence for India, powered by Exasol in-memory analytics.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8064182"/>
            <a:ext cx="2157859" cy="119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Done by : </a:t>
            </a:r>
          </a:p>
          <a:p>
            <a:pPr algn="l">
              <a:lnSpc>
                <a:spcPts val="3184"/>
              </a:lnSpc>
            </a:pPr>
            <a:r>
              <a:rPr lang="en-US" sz="2551" spc="-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Thoyeshwar.L </a:t>
            </a:r>
          </a:p>
          <a:p>
            <a:pPr algn="l">
              <a:lnSpc>
                <a:spcPts val="3184"/>
              </a:lnSpc>
              <a:spcBef>
                <a:spcPct val="0"/>
              </a:spcBef>
            </a:pPr>
            <a:r>
              <a:rPr lang="en-US" b="true" sz="2551" spc="-7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Vishal.K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786909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Executive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3392376"/>
            <a:ext cx="438019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062222"/>
            <a:ext cx="4380195" cy="325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India's weather data is fragmented across government agencies, radar networks, social media, and citizen reports — creating dangerous blind spots during fast-moving disasters like cyclones and floods.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4997" y="3392376"/>
            <a:ext cx="438019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Vision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4997" y="4062222"/>
            <a:ext cx="4380195" cy="416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unified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National Meteorological Command Center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that fuses Open-Meteo radar telemetry, NDMA alerts, crowdsourced citizen reports, and #IMD social intelligence into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sub-second analytics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powered by Exasol's in-memory columnar database.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86619"/>
            <a:ext cx="16315868" cy="85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b="true" sz="5179" spc="-1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Platform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335597"/>
            <a:ext cx="2230088" cy="1378334"/>
            <a:chOff x="0" y="0"/>
            <a:chExt cx="2973451" cy="183777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973451" cy="1837817"/>
            </a:xfrm>
            <a:custGeom>
              <a:avLst/>
              <a:gdLst/>
              <a:ahLst/>
              <a:cxnLst/>
              <a:rect r="r" b="b" t="t" l="l"/>
              <a:pathLst>
                <a:path h="1837817" w="2973451">
                  <a:moveTo>
                    <a:pt x="0" y="0"/>
                  </a:moveTo>
                  <a:lnTo>
                    <a:pt x="2973451" y="0"/>
                  </a:lnTo>
                  <a:lnTo>
                    <a:pt x="2973451" y="1837817"/>
                  </a:lnTo>
                  <a:lnTo>
                    <a:pt x="0" y="183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9" r="0" b="-12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4016150"/>
            <a:ext cx="3845052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National Command Center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930416"/>
            <a:ext cx="3845052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atmospheric overview with live regional temperature rankings and instant station search.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49777" y="2335597"/>
            <a:ext cx="2230088" cy="1378334"/>
            <a:chOff x="0" y="0"/>
            <a:chExt cx="2973451" cy="183777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973451" cy="1837817"/>
            </a:xfrm>
            <a:custGeom>
              <a:avLst/>
              <a:gdLst/>
              <a:ahLst/>
              <a:cxnLst/>
              <a:rect r="r" b="b" t="t" l="l"/>
              <a:pathLst>
                <a:path h="1837817" w="2973451">
                  <a:moveTo>
                    <a:pt x="0" y="0"/>
                  </a:moveTo>
                  <a:lnTo>
                    <a:pt x="2973451" y="0"/>
                  </a:lnTo>
                  <a:lnTo>
                    <a:pt x="2973451" y="1837817"/>
                  </a:lnTo>
                  <a:lnTo>
                    <a:pt x="0" y="183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9" r="0" b="-12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49777" y="4016150"/>
            <a:ext cx="3845204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Interactive GIS Doppler Radar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9777" y="4930416"/>
            <a:ext cx="3845204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Multi-layer geospatial map with thermal radar sweeps and precipitation density visualization.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06716" y="2335597"/>
            <a:ext cx="2230088" cy="1378334"/>
            <a:chOff x="0" y="0"/>
            <a:chExt cx="2973451" cy="183777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73451" cy="1837817"/>
            </a:xfrm>
            <a:custGeom>
              <a:avLst/>
              <a:gdLst/>
              <a:ahLst/>
              <a:cxnLst/>
              <a:rect r="r" b="b" t="t" l="l"/>
              <a:pathLst>
                <a:path h="1837817" w="2973451">
                  <a:moveTo>
                    <a:pt x="0" y="0"/>
                  </a:moveTo>
                  <a:lnTo>
                    <a:pt x="2973451" y="0"/>
                  </a:lnTo>
                  <a:lnTo>
                    <a:pt x="2973451" y="1837817"/>
                  </a:lnTo>
                  <a:lnTo>
                    <a:pt x="0" y="183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9" r="0" b="-1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06716" y="4016150"/>
            <a:ext cx="3845204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Multi-Station Climate Trajectory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6716" y="4930416"/>
            <a:ext cx="3845204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24-hour diurnal curves, 7-day trends, and 12-month seasonal climatology across major Indian cities.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63654" y="2335597"/>
            <a:ext cx="2230088" cy="1378334"/>
            <a:chOff x="0" y="0"/>
            <a:chExt cx="2973451" cy="183777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973451" cy="1837817"/>
            </a:xfrm>
            <a:custGeom>
              <a:avLst/>
              <a:gdLst/>
              <a:ahLst/>
              <a:cxnLst/>
              <a:rect r="r" b="b" t="t" l="l"/>
              <a:pathLst>
                <a:path h="1837817" w="2973451">
                  <a:moveTo>
                    <a:pt x="0" y="0"/>
                  </a:moveTo>
                  <a:lnTo>
                    <a:pt x="2973451" y="0"/>
                  </a:lnTo>
                  <a:lnTo>
                    <a:pt x="2973451" y="1837817"/>
                  </a:lnTo>
                  <a:lnTo>
                    <a:pt x="0" y="183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9" r="0" b="-12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63654" y="4016150"/>
            <a:ext cx="3845204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Pan-India Rainfall Heatmap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3654" y="4930416"/>
            <a:ext cx="3845204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precipitation telemetry tracking the Southwest Monsoon across the entire subcontinent.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6931428"/>
            <a:ext cx="5281889" cy="2362705"/>
            <a:chOff x="0" y="0"/>
            <a:chExt cx="7042518" cy="31502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2531" cy="3150362"/>
            </a:xfrm>
            <a:custGeom>
              <a:avLst/>
              <a:gdLst/>
              <a:ahLst/>
              <a:cxnLst/>
              <a:rect r="r" b="b" t="t" l="l"/>
              <a:pathLst>
                <a:path h="3150362" w="7042531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892925" y="0"/>
                  </a:lnTo>
                  <a:cubicBezTo>
                    <a:pt x="6975475" y="0"/>
                    <a:pt x="7042531" y="66929"/>
                    <a:pt x="7042531" y="149606"/>
                  </a:cubicBezTo>
                  <a:lnTo>
                    <a:pt x="7042531" y="3000756"/>
                  </a:lnTo>
                  <a:cubicBezTo>
                    <a:pt x="7042531" y="3083306"/>
                    <a:pt x="6975602" y="3150362"/>
                    <a:pt x="6892925" y="3150362"/>
                  </a:cubicBezTo>
                  <a:lnTo>
                    <a:pt x="149606" y="3150362"/>
                  </a:lnTo>
                  <a:cubicBezTo>
                    <a:pt x="66929" y="3150235"/>
                    <a:pt x="0" y="3083306"/>
                    <a:pt x="0" y="300075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68530" y="7202214"/>
            <a:ext cx="4721276" cy="4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Extreme Weather Leaderboard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8530" y="7700791"/>
            <a:ext cx="4721276" cy="131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severity scoring with synoptic mechanism detail for top weather events.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09899" y="6931428"/>
            <a:ext cx="5281889" cy="2362705"/>
            <a:chOff x="0" y="0"/>
            <a:chExt cx="7042518" cy="31502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2531" cy="3150362"/>
            </a:xfrm>
            <a:custGeom>
              <a:avLst/>
              <a:gdLst/>
              <a:ahLst/>
              <a:cxnLst/>
              <a:rect r="r" b="b" t="t" l="l"/>
              <a:pathLst>
                <a:path h="3150362" w="7042531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892925" y="0"/>
                  </a:lnTo>
                  <a:cubicBezTo>
                    <a:pt x="6975475" y="0"/>
                    <a:pt x="7042531" y="66929"/>
                    <a:pt x="7042531" y="149606"/>
                  </a:cubicBezTo>
                  <a:lnTo>
                    <a:pt x="7042531" y="3000756"/>
                  </a:lnTo>
                  <a:cubicBezTo>
                    <a:pt x="7042531" y="3083306"/>
                    <a:pt x="6975602" y="3150362"/>
                    <a:pt x="6892925" y="3150362"/>
                  </a:cubicBezTo>
                  <a:lnTo>
                    <a:pt x="149606" y="3150362"/>
                  </a:lnTo>
                  <a:cubicBezTo>
                    <a:pt x="66929" y="3150235"/>
                    <a:pt x="0" y="3083306"/>
                    <a:pt x="0" y="300075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790211" y="7202214"/>
            <a:ext cx="4721276" cy="4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Live #IMD Social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90211" y="7700791"/>
            <a:ext cx="4721276" cy="131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Server-Sent Events feed of verified tweets, citizen reports, and NDMA alerts.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31580" y="6931428"/>
            <a:ext cx="5281889" cy="2362705"/>
            <a:chOff x="0" y="0"/>
            <a:chExt cx="7042518" cy="31502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2531" cy="3150362"/>
            </a:xfrm>
            <a:custGeom>
              <a:avLst/>
              <a:gdLst/>
              <a:ahLst/>
              <a:cxnLst/>
              <a:rect r="r" b="b" t="t" l="l"/>
              <a:pathLst>
                <a:path h="3150362" w="7042531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892925" y="0"/>
                  </a:lnTo>
                  <a:cubicBezTo>
                    <a:pt x="6975475" y="0"/>
                    <a:pt x="7042531" y="66929"/>
                    <a:pt x="7042531" y="149606"/>
                  </a:cubicBezTo>
                  <a:lnTo>
                    <a:pt x="7042531" y="3000756"/>
                  </a:lnTo>
                  <a:cubicBezTo>
                    <a:pt x="7042531" y="3083306"/>
                    <a:pt x="6975602" y="3150362"/>
                    <a:pt x="6892925" y="3150362"/>
                  </a:cubicBezTo>
                  <a:lnTo>
                    <a:pt x="149606" y="3150362"/>
                  </a:lnTo>
                  <a:cubicBezTo>
                    <a:pt x="66929" y="3150235"/>
                    <a:pt x="0" y="3083306"/>
                    <a:pt x="0" y="300075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11891" y="7202214"/>
            <a:ext cx="4721276" cy="4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Citizen Science Portal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11891" y="7700791"/>
            <a:ext cx="4721276" cy="131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Geocoded observation form with one-click GPS auto-detection and hazard severity meters.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33961"/>
            <a:ext cx="16315868" cy="73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b="true" sz="4428" spc="-13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Five Data Sources Powering Varuna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1929279"/>
            <a:ext cx="16315868" cy="1356589"/>
          </a:xfrm>
          <a:custGeom>
            <a:avLst/>
            <a:gdLst/>
            <a:ahLst/>
            <a:cxnLst/>
            <a:rect r="r" b="b" t="t" l="l"/>
            <a:pathLst>
              <a:path h="1356589" w="16315868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51" r="0" b="-55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99362" y="2395623"/>
            <a:ext cx="339138" cy="423901"/>
            <a:chOff x="0" y="0"/>
            <a:chExt cx="452183" cy="5652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6025" y="2174453"/>
            <a:ext cx="14948144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Open-Meteo REST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6025" y="2607154"/>
            <a:ext cx="14948144" cy="36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Hourly observations and multi-day forecasts for 50+ Indian cities via a reliable open REST interface.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3465938"/>
            <a:ext cx="16315868" cy="1356589"/>
          </a:xfrm>
          <a:custGeom>
            <a:avLst/>
            <a:gdLst/>
            <a:ahLst/>
            <a:cxnLst/>
            <a:rect r="r" b="b" t="t" l="l"/>
            <a:pathLst>
              <a:path h="1356589" w="16315868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51" r="0" b="-551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99362" y="3932282"/>
            <a:ext cx="339138" cy="423901"/>
            <a:chOff x="0" y="0"/>
            <a:chExt cx="452183" cy="5652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06025" y="3711111"/>
            <a:ext cx="14948144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Twitter/X #IMD Posts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6025" y="4143813"/>
            <a:ext cx="14948144" cy="36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NLP-classified social posts tagged #IMD, #MumbaiRains, #CycloneDana with extracted GPS coordinates and severity scores.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5002597"/>
            <a:ext cx="16315868" cy="1356589"/>
          </a:xfrm>
          <a:custGeom>
            <a:avLst/>
            <a:gdLst/>
            <a:ahLst/>
            <a:cxnLst/>
            <a:rect r="r" b="b" t="t" l="l"/>
            <a:pathLst>
              <a:path h="1356589" w="16315868">
                <a:moveTo>
                  <a:pt x="0" y="0"/>
                </a:moveTo>
                <a:lnTo>
                  <a:pt x="16315868" y="0"/>
                </a:lnTo>
                <a:lnTo>
                  <a:pt x="16315868" y="1356588"/>
                </a:lnTo>
                <a:lnTo>
                  <a:pt x="0" y="1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51" r="0" b="-55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99362" y="5468941"/>
            <a:ext cx="339138" cy="423901"/>
            <a:chOff x="0" y="0"/>
            <a:chExt cx="452183" cy="5652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06025" y="5247770"/>
            <a:ext cx="14948144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Citizen GPS 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06025" y="5680472"/>
            <a:ext cx="14948144" cy="36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Crowdsourced field-truth observations geocoded to validate and cross-check radar data in real time.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92991" y="6539255"/>
            <a:ext cx="16315868" cy="1356589"/>
          </a:xfrm>
          <a:custGeom>
            <a:avLst/>
            <a:gdLst/>
            <a:ahLst/>
            <a:cxnLst/>
            <a:rect r="r" b="b" t="t" l="l"/>
            <a:pathLst>
              <a:path h="1356589" w="16315868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51" r="0" b="-551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99362" y="7005599"/>
            <a:ext cx="339138" cy="423901"/>
            <a:chOff x="0" y="0"/>
            <a:chExt cx="452183" cy="5652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106025" y="6784429"/>
            <a:ext cx="14948144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NDMA Disaster Scraping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06025" y="7217140"/>
            <a:ext cx="14948144" cy="36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Live official alerts and emergency warnings scraped directly from India's National Disaster Management Authority.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992991" y="8075924"/>
            <a:ext cx="16315868" cy="1356589"/>
          </a:xfrm>
          <a:custGeom>
            <a:avLst/>
            <a:gdLst/>
            <a:ahLst/>
            <a:cxnLst/>
            <a:rect r="r" b="b" t="t" l="l"/>
            <a:pathLst>
              <a:path h="1356589" w="16315868">
                <a:moveTo>
                  <a:pt x="0" y="0"/>
                </a:moveTo>
                <a:lnTo>
                  <a:pt x="16315868" y="0"/>
                </a:lnTo>
                <a:lnTo>
                  <a:pt x="16315868" y="1356588"/>
                </a:lnTo>
                <a:lnTo>
                  <a:pt x="0" y="1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51" r="0" b="-551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99362" y="8542268"/>
            <a:ext cx="339138" cy="423901"/>
            <a:chOff x="0" y="0"/>
            <a:chExt cx="452183" cy="5652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106025" y="8321088"/>
            <a:ext cx="14948144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NOAA / IMD Historical Datasets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06025" y="8753799"/>
            <a:ext cx="14948144" cy="36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Multi-year station records enabling robust climatology baselines and long-term trend analysis.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1742"/>
            <a:ext cx="16315868" cy="69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b="true" sz="4128" spc="-1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End-to-End Data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161" y="1764544"/>
            <a:ext cx="16181375" cy="6977901"/>
            <a:chOff x="0" y="0"/>
            <a:chExt cx="21575166" cy="930386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75140" cy="9303893"/>
            </a:xfrm>
            <a:custGeom>
              <a:avLst/>
              <a:gdLst/>
              <a:ahLst/>
              <a:cxnLst/>
              <a:rect r="r" b="b" t="t" l="l"/>
              <a:pathLst>
                <a:path h="9303893" w="21575140">
                  <a:moveTo>
                    <a:pt x="0" y="0"/>
                  </a:moveTo>
                  <a:lnTo>
                    <a:pt x="21575140" y="0"/>
                  </a:lnTo>
                  <a:lnTo>
                    <a:pt x="21575140" y="9303893"/>
                  </a:lnTo>
                  <a:lnTo>
                    <a:pt x="0" y="930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" r="0" b="-5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9050" y="7400125"/>
            <a:ext cx="3670983" cy="4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b="true" sz="2852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API &amp; SSE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9050" y="5784856"/>
            <a:ext cx="3670983" cy="4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b="true" sz="2852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Storage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9050" y="4185895"/>
            <a:ext cx="3670983" cy="4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b="true" sz="2852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9050" y="2570626"/>
            <a:ext cx="3670983" cy="4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b="true" sz="2852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Sources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874300"/>
            <a:ext cx="16315868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flows continuously from five external sources through ingestion, storage, and API layers into a live React dashboard — delivering sub-second analytics at every stage.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4955"/>
            <a:ext cx="16315868" cy="89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16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Exasol In-Memory Database Layer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226716"/>
            <a:ext cx="16315868" cy="1105024"/>
            <a:chOff x="0" y="0"/>
            <a:chExt cx="21754490" cy="1473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4592" cy="1473454"/>
            </a:xfrm>
            <a:custGeom>
              <a:avLst/>
              <a:gdLst/>
              <a:ahLst/>
              <a:cxnLst/>
              <a:rect r="r" b="b" t="t" l="l"/>
              <a:pathLst>
                <a:path h="1473454" w="21754592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21598128" y="0"/>
                  </a:lnTo>
                  <a:cubicBezTo>
                    <a:pt x="21684489" y="0"/>
                    <a:pt x="21754592" y="69977"/>
                    <a:pt x="21754592" y="156464"/>
                  </a:cubicBezTo>
                  <a:lnTo>
                    <a:pt x="21754592" y="1316990"/>
                  </a:lnTo>
                  <a:cubicBezTo>
                    <a:pt x="21754592" y="1403350"/>
                    <a:pt x="21684616" y="1473454"/>
                    <a:pt x="21598128" y="1473454"/>
                  </a:cubicBezTo>
                  <a:lnTo>
                    <a:pt x="156464" y="1473454"/>
                  </a:lnTo>
                  <a:cubicBezTo>
                    <a:pt x="69977" y="1473327"/>
                    <a:pt x="0" y="1403350"/>
                    <a:pt x="0" y="13169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2254" y="2622471"/>
            <a:ext cx="349120" cy="279273"/>
            <a:chOff x="0" y="0"/>
            <a:chExt cx="465493" cy="37236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65455" cy="372364"/>
            </a:xfrm>
            <a:custGeom>
              <a:avLst/>
              <a:gdLst/>
              <a:ahLst/>
              <a:cxnLst/>
              <a:rect r="r" b="b" t="t" l="l"/>
              <a:pathLst>
                <a:path h="372364" w="465455">
                  <a:moveTo>
                    <a:pt x="0" y="0"/>
                  </a:moveTo>
                  <a:lnTo>
                    <a:pt x="465455" y="0"/>
                  </a:lnTo>
                  <a:lnTo>
                    <a:pt x="465455" y="372364"/>
                  </a:lnTo>
                  <a:lnTo>
                    <a:pt x="0" y="372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8" r="-8" b="-67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00638" y="2495179"/>
            <a:ext cx="16044053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b="true" sz="2176" spc="-4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Sub-15 ms query latency</a:t>
            </a:r>
            <a:r>
              <a:rPr lang="en-US" sz="2176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 multi-million-row aggregations — enabling real-time disaster analytics at national scale.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991" y="3640950"/>
            <a:ext cx="5255228" cy="3009128"/>
          </a:xfrm>
          <a:custGeom>
            <a:avLst/>
            <a:gdLst/>
            <a:ahLst/>
            <a:cxnLst/>
            <a:rect r="r" b="b" t="t" l="l"/>
            <a:pathLst>
              <a:path h="3009128" w="5255228">
                <a:moveTo>
                  <a:pt x="0" y="0"/>
                </a:moveTo>
                <a:lnTo>
                  <a:pt x="5255228" y="0"/>
                </a:lnTo>
                <a:lnTo>
                  <a:pt x="5255228" y="3009129"/>
                </a:lnTo>
                <a:lnTo>
                  <a:pt x="0" y="300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62897" y="3948827"/>
            <a:ext cx="4467930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DIM_CITIES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2897" y="4483437"/>
            <a:ext cx="4467930" cy="18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Dimension table storing coordinates, elevations, and climate zone classifications for all monitored stations.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23158" y="3640950"/>
            <a:ext cx="5255371" cy="3009128"/>
          </a:xfrm>
          <a:custGeom>
            <a:avLst/>
            <a:gdLst/>
            <a:ahLst/>
            <a:cxnLst/>
            <a:rect r="r" b="b" t="t" l="l"/>
            <a:pathLst>
              <a:path h="3009128" w="5255371">
                <a:moveTo>
                  <a:pt x="0" y="0"/>
                </a:moveTo>
                <a:lnTo>
                  <a:pt x="5255371" y="0"/>
                </a:lnTo>
                <a:lnTo>
                  <a:pt x="5255371" y="3009129"/>
                </a:lnTo>
                <a:lnTo>
                  <a:pt x="0" y="300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93064" y="3948827"/>
            <a:ext cx="4468073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FACT_WEATHER_HOURLY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93064" y="4483437"/>
            <a:ext cx="4468073" cy="18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Core fact table distributed by city ID and partitioned by timestamp range for optimized time-series queries.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2053478" y="3640950"/>
            <a:ext cx="5255228" cy="3009128"/>
          </a:xfrm>
          <a:custGeom>
            <a:avLst/>
            <a:gdLst/>
            <a:ahLst/>
            <a:cxnLst/>
            <a:rect r="r" b="b" t="t" l="l"/>
            <a:pathLst>
              <a:path h="3009128" w="5255228">
                <a:moveTo>
                  <a:pt x="0" y="0"/>
                </a:moveTo>
                <a:lnTo>
                  <a:pt x="5255228" y="0"/>
                </a:lnTo>
                <a:lnTo>
                  <a:pt x="5255228" y="3009129"/>
                </a:lnTo>
                <a:lnTo>
                  <a:pt x="0" y="3009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523384" y="3948827"/>
            <a:ext cx="4467930" cy="8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FACT_SOCIAL_MEDIA_POSTS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23384" y="4919843"/>
            <a:ext cx="4467930" cy="14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Geotagged NLP sentiment scores, engagement metrics, and hazard category classifications.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92991" y="6925027"/>
            <a:ext cx="5255228" cy="2565864"/>
          </a:xfrm>
          <a:custGeom>
            <a:avLst/>
            <a:gdLst/>
            <a:ahLst/>
            <a:cxnLst/>
            <a:rect r="r" b="b" t="t" l="l"/>
            <a:pathLst>
              <a:path h="2565864" w="5255228">
                <a:moveTo>
                  <a:pt x="0" y="0"/>
                </a:moveTo>
                <a:lnTo>
                  <a:pt x="5255228" y="0"/>
                </a:lnTo>
                <a:lnTo>
                  <a:pt x="5255228" y="2565864"/>
                </a:lnTo>
                <a:lnTo>
                  <a:pt x="0" y="256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62897" y="7232904"/>
            <a:ext cx="4467930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FACT_CITIZEN_REPORTS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2897" y="7767514"/>
            <a:ext cx="4467930" cy="14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Euclidean-distance indexed for real-time cross-validation against radar sensor observations.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6523158" y="6925027"/>
            <a:ext cx="5255371" cy="2565864"/>
          </a:xfrm>
          <a:custGeom>
            <a:avLst/>
            <a:gdLst/>
            <a:ahLst/>
            <a:cxnLst/>
            <a:rect r="r" b="b" t="t" l="l"/>
            <a:pathLst>
              <a:path h="2565864" w="5255371">
                <a:moveTo>
                  <a:pt x="0" y="0"/>
                </a:moveTo>
                <a:lnTo>
                  <a:pt x="5255371" y="0"/>
                </a:lnTo>
                <a:lnTo>
                  <a:pt x="5255371" y="2565864"/>
                </a:lnTo>
                <a:lnTo>
                  <a:pt x="0" y="256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1" r="0" b="-91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993064" y="7232904"/>
            <a:ext cx="4468073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FACT_DISASTER_ALERTS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93064" y="7767514"/>
            <a:ext cx="4468073" cy="14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Active emergency warning index with live ingestion from NDMA official alert feeds.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5527"/>
            <a:ext cx="16315868" cy="69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b="true" sz="4128" spc="-1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Technology Stack &amp; Repository Structure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123199"/>
            <a:ext cx="5382568" cy="1551261"/>
            <a:chOff x="0" y="0"/>
            <a:chExt cx="7176757" cy="2068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76770" cy="2068322"/>
            </a:xfrm>
            <a:custGeom>
              <a:avLst/>
              <a:gdLst/>
              <a:ahLst/>
              <a:cxnLst/>
              <a:rect r="r" b="b" t="t" l="l"/>
              <a:pathLst>
                <a:path h="2068322" w="7176770">
                  <a:moveTo>
                    <a:pt x="0" y="119888"/>
                  </a:moveTo>
                  <a:cubicBezTo>
                    <a:pt x="0" y="53721"/>
                    <a:pt x="53721" y="0"/>
                    <a:pt x="119888" y="0"/>
                  </a:cubicBezTo>
                  <a:lnTo>
                    <a:pt x="7056882" y="0"/>
                  </a:lnTo>
                  <a:cubicBezTo>
                    <a:pt x="7123049" y="0"/>
                    <a:pt x="7176770" y="53721"/>
                    <a:pt x="7176770" y="119888"/>
                  </a:cubicBezTo>
                  <a:lnTo>
                    <a:pt x="7176770" y="1948434"/>
                  </a:lnTo>
                  <a:cubicBezTo>
                    <a:pt x="7176770" y="2014601"/>
                    <a:pt x="7123049" y="2068322"/>
                    <a:pt x="7056882" y="2068322"/>
                  </a:cubicBezTo>
                  <a:lnTo>
                    <a:pt x="119888" y="2068322"/>
                  </a:lnTo>
                  <a:cubicBezTo>
                    <a:pt x="53721" y="2068322"/>
                    <a:pt x="0" y="2014601"/>
                    <a:pt x="0" y="194843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15209" y="2331148"/>
            <a:ext cx="4928597" cy="36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Frontend — /client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5209" y="2804065"/>
            <a:ext cx="4928597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18 + Vite powering interactive GIS maps, live dashboards, and the social intelligence stream.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8219" y="3824449"/>
            <a:ext cx="5382568" cy="1551261"/>
            <a:chOff x="0" y="0"/>
            <a:chExt cx="7176757" cy="2068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76770" cy="2068322"/>
            </a:xfrm>
            <a:custGeom>
              <a:avLst/>
              <a:gdLst/>
              <a:ahLst/>
              <a:cxnLst/>
              <a:rect r="r" b="b" t="t" l="l"/>
              <a:pathLst>
                <a:path h="2068322" w="7176770">
                  <a:moveTo>
                    <a:pt x="0" y="119888"/>
                  </a:moveTo>
                  <a:cubicBezTo>
                    <a:pt x="0" y="53721"/>
                    <a:pt x="53721" y="0"/>
                    <a:pt x="119888" y="0"/>
                  </a:cubicBezTo>
                  <a:lnTo>
                    <a:pt x="7056882" y="0"/>
                  </a:lnTo>
                  <a:cubicBezTo>
                    <a:pt x="7123049" y="0"/>
                    <a:pt x="7176770" y="53721"/>
                    <a:pt x="7176770" y="119888"/>
                  </a:cubicBezTo>
                  <a:lnTo>
                    <a:pt x="7176770" y="1948434"/>
                  </a:lnTo>
                  <a:cubicBezTo>
                    <a:pt x="7176770" y="2014601"/>
                    <a:pt x="7123049" y="2068322"/>
                    <a:pt x="7056882" y="2068322"/>
                  </a:cubicBezTo>
                  <a:lnTo>
                    <a:pt x="119888" y="2068322"/>
                  </a:lnTo>
                  <a:cubicBezTo>
                    <a:pt x="53721" y="2068322"/>
                    <a:pt x="0" y="2014601"/>
                    <a:pt x="0" y="194843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15209" y="4032390"/>
            <a:ext cx="4928597" cy="36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Backend — /server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209" y="4505306"/>
            <a:ext cx="4928597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Node.js + Express serving a REST API and real-time Server-Sent Events streaming layer.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5525691"/>
            <a:ext cx="5382568" cy="1551261"/>
            <a:chOff x="0" y="0"/>
            <a:chExt cx="7176757" cy="2068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6770" cy="2068322"/>
            </a:xfrm>
            <a:custGeom>
              <a:avLst/>
              <a:gdLst/>
              <a:ahLst/>
              <a:cxnLst/>
              <a:rect r="r" b="b" t="t" l="l"/>
              <a:pathLst>
                <a:path h="2068322" w="7176770">
                  <a:moveTo>
                    <a:pt x="0" y="119888"/>
                  </a:moveTo>
                  <a:cubicBezTo>
                    <a:pt x="0" y="53721"/>
                    <a:pt x="53721" y="0"/>
                    <a:pt x="119888" y="0"/>
                  </a:cubicBezTo>
                  <a:lnTo>
                    <a:pt x="7056882" y="0"/>
                  </a:lnTo>
                  <a:cubicBezTo>
                    <a:pt x="7123049" y="0"/>
                    <a:pt x="7176770" y="53721"/>
                    <a:pt x="7176770" y="119888"/>
                  </a:cubicBezTo>
                  <a:lnTo>
                    <a:pt x="7176770" y="1948434"/>
                  </a:lnTo>
                  <a:cubicBezTo>
                    <a:pt x="7176770" y="2014601"/>
                    <a:pt x="7123049" y="2068322"/>
                    <a:pt x="7056882" y="2068322"/>
                  </a:cubicBezTo>
                  <a:lnTo>
                    <a:pt x="119888" y="2068322"/>
                  </a:lnTo>
                  <a:cubicBezTo>
                    <a:pt x="53721" y="2068322"/>
                    <a:pt x="0" y="2014601"/>
                    <a:pt x="0" y="194843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15209" y="5733631"/>
            <a:ext cx="4928597" cy="36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Processing — /ingest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209" y="6206557"/>
            <a:ext cx="4928597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3.9+ pipelines for batch ingestion, NLP classification, and geocoding of raw data sources.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8219" y="7226932"/>
            <a:ext cx="5382568" cy="1849145"/>
            <a:chOff x="0" y="0"/>
            <a:chExt cx="7176757" cy="24655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76770" cy="2465451"/>
            </a:xfrm>
            <a:custGeom>
              <a:avLst/>
              <a:gdLst/>
              <a:ahLst/>
              <a:cxnLst/>
              <a:rect r="r" b="b" t="t" l="l"/>
              <a:pathLst>
                <a:path h="2465451" w="7176770">
                  <a:moveTo>
                    <a:pt x="0" y="119761"/>
                  </a:moveTo>
                  <a:cubicBezTo>
                    <a:pt x="0" y="53594"/>
                    <a:pt x="53594" y="0"/>
                    <a:pt x="119761" y="0"/>
                  </a:cubicBezTo>
                  <a:lnTo>
                    <a:pt x="7057009" y="0"/>
                  </a:lnTo>
                  <a:cubicBezTo>
                    <a:pt x="7123176" y="0"/>
                    <a:pt x="7176770" y="53594"/>
                    <a:pt x="7176770" y="119761"/>
                  </a:cubicBezTo>
                  <a:lnTo>
                    <a:pt x="7176770" y="2345690"/>
                  </a:lnTo>
                  <a:cubicBezTo>
                    <a:pt x="7176770" y="2411857"/>
                    <a:pt x="7123176" y="2465451"/>
                    <a:pt x="7057009" y="2465451"/>
                  </a:cubicBezTo>
                  <a:lnTo>
                    <a:pt x="119761" y="2465451"/>
                  </a:lnTo>
                  <a:cubicBezTo>
                    <a:pt x="53594" y="2465451"/>
                    <a:pt x="0" y="2411857"/>
                    <a:pt x="0" y="2345690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15209" y="7406297"/>
            <a:ext cx="4928597" cy="38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Database — /tools/exasol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5209" y="7907798"/>
            <a:ext cx="4928597" cy="94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Exasol in-memory columnar cluster providing sub-15 ms query response on aggregated weather data.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94766" y="2646302"/>
            <a:ext cx="10423474" cy="5906691"/>
            <a:chOff x="0" y="0"/>
            <a:chExt cx="13897966" cy="787558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3897990" cy="7875651"/>
            </a:xfrm>
            <a:custGeom>
              <a:avLst/>
              <a:gdLst/>
              <a:ahLst/>
              <a:cxnLst/>
              <a:rect r="r" b="b" t="t" l="l"/>
              <a:pathLst>
                <a:path h="7875651" w="13897990">
                  <a:moveTo>
                    <a:pt x="0" y="0"/>
                  </a:moveTo>
                  <a:lnTo>
                    <a:pt x="13897990" y="0"/>
                  </a:lnTo>
                  <a:lnTo>
                    <a:pt x="13897990" y="7875651"/>
                  </a:lnTo>
                  <a:lnTo>
                    <a:pt x="0" y="787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0" b="-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74776"/>
            <a:ext cx="16315868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Deployment: Quick Start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06941" y="2357495"/>
            <a:ext cx="12687967" cy="5807050"/>
            <a:chOff x="0" y="0"/>
            <a:chExt cx="16917289" cy="774273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917288" cy="7742682"/>
            </a:xfrm>
            <a:custGeom>
              <a:avLst/>
              <a:gdLst/>
              <a:ahLst/>
              <a:cxnLst/>
              <a:rect r="r" b="b" t="t" l="l"/>
              <a:pathLst>
                <a:path h="7742682" w="16917288">
                  <a:moveTo>
                    <a:pt x="0" y="0"/>
                  </a:moveTo>
                  <a:lnTo>
                    <a:pt x="16917288" y="0"/>
                  </a:lnTo>
                  <a:lnTo>
                    <a:pt x="16917288" y="7742682"/>
                  </a:lnTo>
                  <a:lnTo>
                    <a:pt x="0" y="7742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22194" y="6537055"/>
            <a:ext cx="2382088" cy="93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b="true" sz="2852" spc="-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Step 4: Load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0114" y="6537055"/>
            <a:ext cx="2382088" cy="93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b="true" sz="2852" spc="-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Step 3: Start 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34350" y="6537055"/>
            <a:ext cx="2382088" cy="93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b="true" sz="2852" spc="-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Step 2: Start Backend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83321" y="6766503"/>
            <a:ext cx="2382088" cy="4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b="true" sz="2852" spc="-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Step 1: Clone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407527"/>
            <a:ext cx="1631586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full stack — backend API, React frontend, and Exasol database — can be running and populated with historical data in minutes.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786003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Varuna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1410" y="2122008"/>
            <a:ext cx="647890" cy="647910"/>
            <a:chOff x="0" y="0"/>
            <a:chExt cx="863854" cy="8638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854" cy="863854"/>
            </a:xfrm>
            <a:custGeom>
              <a:avLst/>
              <a:gdLst/>
              <a:ahLst/>
              <a:cxnLst/>
              <a:rect r="r" b="b" t="t" l="l"/>
              <a:pathLst>
                <a:path h="863854" w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69" y="2205142"/>
            <a:ext cx="853058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Unified National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78269" y="2761488"/>
            <a:ext cx="8530580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Varuna is the first platform to fuse five fragmented weather data ecosystems — government, radar, social, citizen, and historical — into a single coherent national view.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51410" y="4762348"/>
            <a:ext cx="647890" cy="647910"/>
            <a:chOff x="0" y="0"/>
            <a:chExt cx="863854" cy="8638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854" cy="863854"/>
            </a:xfrm>
            <a:custGeom>
              <a:avLst/>
              <a:gdLst/>
              <a:ahLst/>
              <a:cxnLst/>
              <a:rect r="r" b="b" t="t" l="l"/>
              <a:pathLst>
                <a:path h="863854" w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778269" y="4845472"/>
            <a:ext cx="853058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Sub-Second Disaster Response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78269" y="5401828"/>
            <a:ext cx="8530580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analytics under 15 ms enable faster public communication, earlier evacuations, and more coordinated emergency management across agencies.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1410" y="7402687"/>
            <a:ext cx="647890" cy="647910"/>
            <a:chOff x="0" y="0"/>
            <a:chExt cx="863854" cy="863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854" cy="863854"/>
            </a:xfrm>
            <a:custGeom>
              <a:avLst/>
              <a:gdLst/>
              <a:ahLst/>
              <a:cxnLst/>
              <a:rect r="r" b="b" t="t" l="l"/>
              <a:pathLst>
                <a:path h="863854" w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778269" y="7485812"/>
            <a:ext cx="853058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Open, Extensible, Future-Ready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78269" y="8042167"/>
            <a:ext cx="8530580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Built on proven open-source technologies — React, Python, Node.js, and Exasol — the architecture is designed to scale to new data sources and new regions.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3036103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4348305"/>
            <a:ext cx="9452677" cy="125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4"/>
              </a:lnSpc>
            </a:pPr>
            <a:r>
              <a:rPr lang="en-US" b="true" sz="7656" spc="-23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Varuna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98629" y="5949944"/>
            <a:ext cx="103677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 i="true" spc="-45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Oceans, Water &amp; Rain — powered by real-time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6794554"/>
            <a:ext cx="1912849" cy="440579"/>
            <a:chOff x="0" y="0"/>
            <a:chExt cx="2550465" cy="587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50414" cy="587375"/>
            </a:xfrm>
            <a:custGeom>
              <a:avLst/>
              <a:gdLst/>
              <a:ahLst/>
              <a:cxnLst/>
              <a:rect r="r" b="b" t="t" l="l"/>
              <a:pathLst>
                <a:path h="587375" w="2550414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420493" y="0"/>
                  </a:lnTo>
                  <a:cubicBezTo>
                    <a:pt x="2492248" y="0"/>
                    <a:pt x="2550414" y="58166"/>
                    <a:pt x="2550414" y="129921"/>
                  </a:cubicBezTo>
                  <a:lnTo>
                    <a:pt x="2550414" y="457454"/>
                  </a:lnTo>
                  <a:cubicBezTo>
                    <a:pt x="2550414" y="529209"/>
                    <a:pt x="2492248" y="587375"/>
                    <a:pt x="2420493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01" r="-1" b="-34612"/>
              </a:stretch>
            </a:blipFill>
            <a:ln w="9532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026422" y="6893890"/>
            <a:ext cx="2477929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 spc="-45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OPEN SOURCE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01285" y="6799316"/>
            <a:ext cx="1698222" cy="431044"/>
            <a:chOff x="0" y="0"/>
            <a:chExt cx="2264296" cy="574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4283" cy="574675"/>
            </a:xfrm>
            <a:custGeom>
              <a:avLst/>
              <a:gdLst/>
              <a:ahLst/>
              <a:cxnLst/>
              <a:rect r="r" b="b" t="t" l="l"/>
              <a:pathLst>
                <a:path h="574675" w="2264283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2137156" y="0"/>
                  </a:lnTo>
                  <a:cubicBezTo>
                    <a:pt x="2207387" y="0"/>
                    <a:pt x="2264283" y="56896"/>
                    <a:pt x="2264283" y="127127"/>
                  </a:cubicBezTo>
                  <a:lnTo>
                    <a:pt x="2264283" y="447548"/>
                  </a:lnTo>
                  <a:cubicBezTo>
                    <a:pt x="2264283" y="517779"/>
                    <a:pt x="2207387" y="574675"/>
                    <a:pt x="2137156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71525" y="6893890"/>
            <a:ext cx="2272836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DAHVFgox6gs</dc:identifier>
  <dcterms:modified xsi:type="dcterms:W3CDTF">2011-08-01T06:04:30Z</dcterms:modified>
  <cp:revision>1</cp:revision>
  <dc:title>Varuna-National-Weather-Big-Data-Analytics-Platform.pptx</dc:title>
</cp:coreProperties>
</file>